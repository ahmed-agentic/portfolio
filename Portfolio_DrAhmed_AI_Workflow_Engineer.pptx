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54864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Ahmed Hani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kern="0" spc="10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Workflow &amp; Vibe Coding Engineer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3657600" cy="274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8892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Production-grade AI systems · Multi-agent pipelines · Enterprise workflow automation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2286000" cy="347472"/>
          </a:xfrm>
          <a:prstGeom prst="rect">
            <a:avLst/>
          </a:prstGeom>
          <a:solidFill>
            <a:srgbClr val="0D2E1A"/>
          </a:solidFill>
          <a:ln w="12700">
            <a:solidFill>
              <a:srgbClr val="0D2E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353872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46557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Available for Senior Roles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dr.ahmedhani197@gmail.com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548640"/>
            <a:ext cx="256032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68580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Portfolio Highlights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1143000"/>
            <a:ext cx="36576" cy="4114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1430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6+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92240" y="1399032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Production AI systems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55080" y="1801368"/>
            <a:ext cx="36576" cy="4114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80136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3yr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92240" y="205740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Agentic AI experience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55080" y="2459736"/>
            <a:ext cx="36576" cy="4114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45973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50k+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92240" y="271576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Records/day processed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355080" y="3118104"/>
            <a:ext cx="36576" cy="4114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11810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98%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92240" y="3374136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Query latency reduced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55080" y="3776472"/>
            <a:ext cx="36576" cy="4114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37764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492240" y="4032504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HIPAA violations in prod</a:t>
            </a:r>
            <a:endParaRPr lang="en-US" sz="900" dirty="0"/>
          </a:p>
        </p:txBody>
      </p:sp>
      <p:sp>
        <p:nvSpPr>
          <p:cNvPr id="28" name="Text Box 27"/>
          <p:cNvSpPr txBox="1"/>
          <p:nvPr/>
        </p:nvSpPr>
        <p:spPr>
          <a:xfrm>
            <a:off x="1863725" y="412369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828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ABOUT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59436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build AI systems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that work in production.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4023360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207568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🧠  Multi-Agent Systems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1792" y="2423160"/>
            <a:ext cx="3657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LangGraph state machines with typed state, conditional routing, quality gates, and cost guardrails. Built for production, not demos.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1965960"/>
            <a:ext cx="4023360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65192" y="207568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⚙️  Workflow Automation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965192" y="2423160"/>
            <a:ext cx="3657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DAG-based execution engines, visual workflow builders, and enterprise integrations. From n8n to custom TypeScript orchestrators.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4023360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" y="344728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🔒  Healthcare &amp; Compliance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1792" y="3794760"/>
            <a:ext cx="3657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HIPAA Safe Harbour de-identification, k-anonymity validation, Presidio NLP pipelines. Passed independent compliance audit.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3337560"/>
            <a:ext cx="4023360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65192" y="344728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📡  Observability First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965192" y="3794760"/>
            <a:ext cx="3657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Prometheus metrics, structured JSON logging, OpenTelemetry traces — instrumented from day one, not bolted on later.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"I don't prototype. I build systems that run in production, handle edge cases, stay within budget, and give operators the visibility they need to trust them."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TECHNICAL SKILLS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stack I ship with.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188720"/>
            <a:ext cx="2697480" cy="1554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1298448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🤖  AI / LLM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928116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691640"/>
            <a:ext cx="87325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LangGraph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449324" y="1664208"/>
            <a:ext cx="928116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4188" y="1691640"/>
            <a:ext cx="87325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LangChain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956816"/>
            <a:ext cx="1239012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984248"/>
            <a:ext cx="118414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OpenAI GPT-4o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760220" y="1956816"/>
            <a:ext cx="461772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15084" y="1984248"/>
            <a:ext cx="40690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249424"/>
            <a:ext cx="1083564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2276856"/>
            <a:ext cx="10287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604772" y="2249424"/>
            <a:ext cx="1083564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59636" y="2276856"/>
            <a:ext cx="10287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Fine-tuning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2542032"/>
            <a:ext cx="850392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2569464"/>
            <a:ext cx="7955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Presidio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371600" y="2542032"/>
            <a:ext cx="617220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26464" y="2569464"/>
            <a:ext cx="5623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0" y="1188720"/>
            <a:ext cx="2697480" cy="1554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37560" y="1298448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🐍  Backend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10128" y="1664208"/>
            <a:ext cx="1083564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1691640"/>
            <a:ext cx="10287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3.11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457700" y="1664208"/>
            <a:ext cx="772668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12564" y="1691640"/>
            <a:ext cx="71780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310128" y="1956816"/>
            <a:ext cx="1005840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64992" y="1984248"/>
            <a:ext cx="95097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TypeScript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379976" y="1956816"/>
            <a:ext cx="772668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34840" y="1984248"/>
            <a:ext cx="71780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Node.js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310128" y="2249424"/>
            <a:ext cx="772668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4992" y="2276856"/>
            <a:ext cx="71780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asyncio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146804" y="2249424"/>
            <a:ext cx="1083564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01668" y="2276856"/>
            <a:ext cx="10287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Pydantic v2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310128" y="2542032"/>
            <a:ext cx="694944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64992" y="2569464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BullMQ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069080" y="2542032"/>
            <a:ext cx="461772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23944" y="2569464"/>
            <a:ext cx="40690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SSE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053328" y="1188720"/>
            <a:ext cx="2697480" cy="1554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190488" y="1298448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⚛️  Frontend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163056" y="1664208"/>
            <a:ext cx="850392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0" y="1691640"/>
            <a:ext cx="7955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18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077456" y="1664208"/>
            <a:ext cx="772668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32320" y="1691640"/>
            <a:ext cx="71780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Next.js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163056" y="1956816"/>
            <a:ext cx="1005840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0" y="1984248"/>
            <a:ext cx="95097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TypeScript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232904" y="1956816"/>
            <a:ext cx="1005840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87768" y="1984248"/>
            <a:ext cx="95097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Flow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163056" y="2249424"/>
            <a:ext cx="1083564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17920" y="2276856"/>
            <a:ext cx="10287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TailwindCSS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310628" y="2249424"/>
            <a:ext cx="539496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65492" y="2276856"/>
            <a:ext cx="4846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Vite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47472" y="2880360"/>
            <a:ext cx="2697480" cy="1554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84632" y="2990088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🗄️  Databases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457200" y="3355848"/>
            <a:ext cx="1005840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2064" y="3383280"/>
            <a:ext cx="95097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1527048" y="3355848"/>
            <a:ext cx="1083564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581912" y="3383280"/>
            <a:ext cx="10287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TimescaleDB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57200" y="3648456"/>
            <a:ext cx="694944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2064" y="367588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Qdrant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216152" y="3648456"/>
            <a:ext cx="850392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271016" y="3675888"/>
            <a:ext cx="7955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pgvector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130552" y="3648456"/>
            <a:ext cx="617220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185416" y="3675888"/>
            <a:ext cx="5623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57200" y="3941064"/>
            <a:ext cx="617220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2064" y="3968496"/>
            <a:ext cx="5623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MinIO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1138428" y="3941064"/>
            <a:ext cx="694944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193292" y="396849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Prisma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200400" y="2880360"/>
            <a:ext cx="2697480" cy="1554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3337560" y="2990088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🔧  Data Eng.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3310128" y="3355848"/>
            <a:ext cx="1316736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364992" y="3383280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 Airflow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690872" y="3355848"/>
            <a:ext cx="461772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745736" y="3383280"/>
            <a:ext cx="40690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dbt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3310128" y="3648456"/>
            <a:ext cx="694944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364992" y="367588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pandas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4069080" y="3648456"/>
            <a:ext cx="1083564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123944" y="3675888"/>
            <a:ext cx="10287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statsmodels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3310128" y="3941064"/>
            <a:ext cx="617220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364992" y="3968496"/>
            <a:ext cx="5623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ARIMA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3310128" y="4233672"/>
            <a:ext cx="1860804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364992" y="4261104"/>
            <a:ext cx="18059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sentence-transformers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6053328" y="2880360"/>
            <a:ext cx="2697480" cy="1554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6190488" y="2990088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🚀  Infra/DevOps</a:t>
            </a:r>
            <a:endParaRPr lang="en-US" sz="1150" dirty="0"/>
          </a:p>
        </p:txBody>
      </p:sp>
      <p:sp>
        <p:nvSpPr>
          <p:cNvPr id="87" name="Shape 85"/>
          <p:cNvSpPr/>
          <p:nvPr/>
        </p:nvSpPr>
        <p:spPr>
          <a:xfrm>
            <a:off x="6163056" y="3355848"/>
            <a:ext cx="694944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217920" y="338328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6922008" y="3355848"/>
            <a:ext cx="1316736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976872" y="3383280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Actions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6163056" y="3648456"/>
            <a:ext cx="694944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217920" y="367588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Vercel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6922008" y="3648456"/>
            <a:ext cx="772668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976872" y="3675888"/>
            <a:ext cx="71780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Railway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6163056" y="3941064"/>
            <a:ext cx="1005840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217920" y="3968496"/>
            <a:ext cx="95097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Prometheus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7232904" y="3941064"/>
            <a:ext cx="772668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287768" y="3968496"/>
            <a:ext cx="71780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Grafana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8069580" y="3941064"/>
            <a:ext cx="461772" cy="219456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124444" y="3968496"/>
            <a:ext cx="40690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n8n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13716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3657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01 · AI RESEARCH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5486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NexusFlow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Multi-Agent Deep Research Platform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4206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LangGraph-powered autonomous research system that orchestrates a five-node agent pipeline to produce cited, quality-scored reports from a single natural-language query. Reports stream to clients in real-time via Server-Sent Events.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713232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32304"/>
            <a:ext cx="7132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Planner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88720" y="2468880"/>
            <a:ext cx="1097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→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280160" y="2423160"/>
            <a:ext cx="713232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2432304"/>
            <a:ext cx="7132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011680" y="2468880"/>
            <a:ext cx="1097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03120" y="2423160"/>
            <a:ext cx="713232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2432304"/>
            <a:ext cx="7132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Critic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834640" y="2468880"/>
            <a:ext cx="1097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26080" y="2423160"/>
            <a:ext cx="713232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2432304"/>
            <a:ext cx="7132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Synthesiser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0" y="2468880"/>
            <a:ext cx="1097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→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49040" y="2423160"/>
            <a:ext cx="713232" cy="34747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2432304"/>
            <a:ext cx="7132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Formatter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103120" y="278892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↑ reroute if quality &lt; 0.72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3090672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 knowledge base reduces LLM cost by 40% ($0.18 → $0.11/report)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3429000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Critic quality gate + auto-rerouting: +23% vs single-pass generation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3767328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SSE streaming — per-agent events delivered in real-time to browser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105656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Cost guardrails: soft alert at $0.25, hard stop at $0.50 per report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120640" y="1508760"/>
            <a:ext cx="192024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230368" y="1554480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↓40%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5230368" y="2011680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cost via RAG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132320" y="1508760"/>
            <a:ext cx="192024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242048" y="1554480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+23%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242048" y="2011680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Quality improvement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120640" y="2423160"/>
            <a:ext cx="192024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230368" y="2468880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47s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5230368" y="2926080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report time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132320" y="2423160"/>
            <a:ext cx="192024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242048" y="2468880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$0.11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7242048" y="2926080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report cost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120640" y="3401568"/>
            <a:ext cx="1179576" cy="256032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12080" y="3429000"/>
            <a:ext cx="9966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LangGraph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345936" y="3401568"/>
            <a:ext cx="978408" cy="256032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37376" y="3429000"/>
            <a:ext cx="7955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370064" y="3401568"/>
            <a:ext cx="877824" cy="256032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61504" y="3429000"/>
            <a:ext cx="694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Qdrant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293608" y="3401568"/>
            <a:ext cx="877824" cy="256032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85048" y="3429000"/>
            <a:ext cx="694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GPT-4o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217152" y="3401568"/>
            <a:ext cx="576072" cy="256032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08592" y="3429000"/>
            <a:ext cx="393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SSE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838944" y="3401568"/>
            <a:ext cx="1280160" cy="256032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930384" y="3429000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1164824" y="3401568"/>
            <a:ext cx="777240" cy="256032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256264" y="3429000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1987784" y="3401568"/>
            <a:ext cx="877824" cy="256032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2079224" y="3429000"/>
            <a:ext cx="694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120640" y="3794760"/>
            <a:ext cx="3794760" cy="1143000"/>
          </a:xfrm>
          <a:prstGeom prst="rect">
            <a:avLst/>
          </a:prstGeom>
          <a:solidFill>
            <a:srgbClr val="0A0F18"/>
          </a:solidFill>
          <a:ln w="12700">
            <a:solidFill>
              <a:srgbClr val="0A0F1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57800" y="3913632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→ nexusflow/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257800" y="420624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compose up -d  →  port 8000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257800" y="4480560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Interview: Ask about LangGraph state machine + rerouting logic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13716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4572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02 · WORKFLOW AUTOMATION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5486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WorkflowOS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AI Workflow Automation Platform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4206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No-code workflow builder with a React Flow visual canvas and TypeScript DAG executor. Users connect trigger, AI, and integration nodes into parallel-executing workflows with encrypted credential storage.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395728"/>
            <a:ext cx="4206240" cy="228600"/>
          </a:xfrm>
          <a:prstGeom prst="rect">
            <a:avLst/>
          </a:prstGeom>
          <a:solidFill>
            <a:srgbClr val="0A0F18"/>
          </a:solidFill>
          <a:ln w="12700">
            <a:solidFill>
              <a:srgbClr val="0A0F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95728"/>
            <a:ext cx="42062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topoSort(nodes, edges)  →  level groups  →  Promise.allSettled(level)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420624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76148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level[0]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03120" y="2761488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Webhook Trigger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255264"/>
            <a:ext cx="420624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273552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level[1] parallel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03120" y="3273552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ai-extract  ‖  ai-classify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767328"/>
            <a:ext cx="420624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378561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level[2]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03120" y="3785616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Slack / Email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120640" y="1508760"/>
            <a:ext cx="192024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30368" y="1554480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↓60%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230368" y="2011680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Workflow latency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132320" y="1508760"/>
            <a:ext cx="192024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42048" y="1554480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242048" y="2011680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Plaintext credentials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120640" y="2423160"/>
            <a:ext cx="192024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230368" y="2468880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AES-256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230368" y="2926080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GCM cred vault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132320" y="2423160"/>
            <a:ext cx="192024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242048" y="2468880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94%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242048" y="2926080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Classification acc.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120640" y="3401568"/>
            <a:ext cx="37947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Kahn's topological sort → parallel level execution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120640" y="3739896"/>
            <a:ext cx="37947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AES-256-GCM per-tenant vault with unique IVs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120640" y="4078224"/>
            <a:ext cx="37947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BullMQ retry with exponential backoff (max 5×)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120640" y="4416552"/>
            <a:ext cx="37947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GPT-4o-mini nodes with Zod schema validation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4407408"/>
            <a:ext cx="1280160" cy="256032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434840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783080" y="4407408"/>
            <a:ext cx="1280160" cy="256032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74520" y="4434840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Flow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108960" y="4407408"/>
            <a:ext cx="877824" cy="256032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0" y="4434840"/>
            <a:ext cx="694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BullMQ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032504" y="4407408"/>
            <a:ext cx="877824" cy="256032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23944" y="4434840"/>
            <a:ext cx="694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GPT-4o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956048" y="4407408"/>
            <a:ext cx="777240" cy="256032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47488" y="4434840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779008" y="4407408"/>
            <a:ext cx="1280160" cy="256032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70448" y="4434840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13716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3657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03 · OBSERVABILITY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5486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PulseDash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AI Anomaly Detection Dashboard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4206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Ingests time-series metrics from any HTTP endpoint, detects anomalies using a hybrid ARIMA(2,1,2) + Z-score model, generates GPT-4o-mini plain-English alert narratives, and pushes real-time alerts via WebSocket.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953512"/>
            <a:ext cx="384048" cy="24688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788920"/>
            <a:ext cx="384048" cy="4114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0" y="2624328"/>
            <a:ext cx="384048" cy="5760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65960" y="2830068"/>
            <a:ext cx="384048" cy="3703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2377440"/>
            <a:ext cx="384048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71800" y="2912364"/>
            <a:ext cx="384048" cy="28803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2747772"/>
            <a:ext cx="384048" cy="4526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77640" y="2871216"/>
            <a:ext cx="384048" cy="32918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36976"/>
            <a:ext cx="4114800" cy="27432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91840"/>
            <a:ext cx="4206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checkout_rate  ·  Z-score + ARIMA(2,1,2) anomaly: z=4.2 → ALERT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703320"/>
            <a:ext cx="4389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TimescaleDB continuous aggregates: 2,400ms → 38ms (98.4% ↓)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023360"/>
            <a:ext cx="4389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Hybrid model: 73% fewer false positives vs pure Z-score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343400"/>
            <a:ext cx="4389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GPT-4o-mini narratives rated 4.7/5 by on-call engineers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4389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 Pub/Sub → WebSocket: alert delivery within 200ms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120640" y="1508760"/>
            <a:ext cx="192024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230368" y="1554480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↓73%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230368" y="2011680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False positive rate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132320" y="1508760"/>
            <a:ext cx="192024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242048" y="1554480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38ms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242048" y="2011680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p99 query latency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120640" y="2423160"/>
            <a:ext cx="192024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230368" y="2468880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4.7★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5230368" y="2926080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 clarity score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132320" y="2423160"/>
            <a:ext cx="192024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242048" y="2468880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200ms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242048" y="2926080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 delivery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120640" y="3401568"/>
            <a:ext cx="37947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ARIMA(2,1,2): adapts to metric seasonality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120640" y="3739896"/>
            <a:ext cx="37947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TimescaleDB hypertables + 7-day compression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120640" y="4078224"/>
            <a:ext cx="37947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narrative is non-blocking (alert first)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120640" y="4416552"/>
            <a:ext cx="37947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Cost: $0.00015/1K tokens vs $0.005 for GPT-4o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" y="4407408"/>
            <a:ext cx="1380744" cy="256032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434840"/>
            <a:ext cx="119786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TimescaleDB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883664" y="4407408"/>
            <a:ext cx="777240" cy="256032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975104" y="4434840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ARIMA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06624" y="4407408"/>
            <a:ext cx="978408" cy="256032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98064" y="4434840"/>
            <a:ext cx="7955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730752" y="4407408"/>
            <a:ext cx="1581912" cy="256032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22192" y="4434840"/>
            <a:ext cx="139903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 Pub/Sub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358384" y="4407408"/>
            <a:ext cx="1179576" cy="256032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49824" y="4434840"/>
            <a:ext cx="9966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WebSocket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13716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3657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04 · DATA ENGINEERING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6400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ScraperMatrix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Intelligent Web Scraping &amp; Data Extraction Pipeline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4206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Crawls 15,000 URLs/day (including JS-rendered pages via Playwright), extracts structured records using GPT-4o JSON Schema output, and deduplicates via SHA-256 + sentence-transformer cosine similarity on a pgvector HNSW index.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96012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" y="2450592"/>
            <a:ext cx="85039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discover_urls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26464" y="2514600"/>
            <a:ext cx="91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→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08760" y="2423160"/>
            <a:ext cx="96012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63624" y="2450592"/>
            <a:ext cx="85039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run_spider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78024" y="2514600"/>
            <a:ext cx="91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0" y="2423160"/>
            <a:ext cx="96012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15184" y="2450592"/>
            <a:ext cx="85039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dedup_store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29584" y="2514600"/>
            <a:ext cx="91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11880" y="2423160"/>
            <a:ext cx="96012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66744" y="2450592"/>
            <a:ext cx="85039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update_log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907792"/>
            <a:ext cx="4114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 Airflow DAG  ·  schedule: 0 6 * * *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218688"/>
            <a:ext cx="4389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GPT-4o JSON Schema: 96.3% accuracy vs 71% regex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3547872"/>
            <a:ext cx="4389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1: SHA-256 O(1) exact hash deduplication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3877056"/>
            <a:ext cx="4389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2: pgvector HNSW cosine ≥ 0.94 near-dup check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206240"/>
            <a:ext cx="4389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MinIO content-addressed HTML archive (90-day retention)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120640" y="1508760"/>
            <a:ext cx="192024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30368" y="1554480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96.3%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230368" y="2011680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Extraction accuracy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132320" y="1508760"/>
            <a:ext cx="192024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242048" y="1554480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↓34%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242048" y="2011680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Duplicate rate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120640" y="2423160"/>
            <a:ext cx="192024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230368" y="2468880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15k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230368" y="2926080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URLs per day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132320" y="2423160"/>
            <a:ext cx="192024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242048" y="2468880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&lt;1ms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7242048" y="2926080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HNSW search p99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120640" y="3401568"/>
            <a:ext cx="37947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asyncio.Semaphore(20) concurrent fetches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120640" y="3739896"/>
            <a:ext cx="37947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Playwright for JS-rendered pages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120640" y="4078224"/>
            <a:ext cx="37947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Quality score gate: low-quality excluded from API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120640" y="4416552"/>
            <a:ext cx="37947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Per-domain rate limiting to prevent bans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" y="4407408"/>
            <a:ext cx="978408" cy="256032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434840"/>
            <a:ext cx="7955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Airflow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481328" y="4407408"/>
            <a:ext cx="877824" cy="256032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572768" y="4434840"/>
            <a:ext cx="694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GPT-4o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404872" y="4407408"/>
            <a:ext cx="1078992" cy="256032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96312" y="4434840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pgvector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529584" y="4407408"/>
            <a:ext cx="1280160" cy="256032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21024" y="4434840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Playwright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55464" y="4407408"/>
            <a:ext cx="777240" cy="256032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46904" y="4434840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MinIO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678424" y="4407408"/>
            <a:ext cx="877824" cy="256032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69864" y="4434840"/>
            <a:ext cx="694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13716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3657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05 · CUSTOMER EXPERIENCE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5486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SupportNinja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AI-First Customer Support Platform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4206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Classifies tickets with GPT-4o, routes by confidence threshold, retrieves from dual Qdrant RAG (KB + resolved tickets), and captures human agent edits as fine-tuning training examples.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359152"/>
            <a:ext cx="4114800" cy="438912"/>
          </a:xfrm>
          <a:prstGeom prst="rect">
            <a:avLst/>
          </a:prstGeom>
          <a:solidFill>
            <a:srgbClr val="0D2E1A"/>
          </a:solidFill>
          <a:ln w="12700">
            <a:solidFill>
              <a:srgbClr val="0D2E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37744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237744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Auto-Respond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280160" y="2615184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confidence ≥ 0.87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862072"/>
            <a:ext cx="4114800" cy="438912"/>
          </a:xfrm>
          <a:prstGeom prst="rect">
            <a:avLst/>
          </a:prstGeom>
          <a:solidFill>
            <a:srgbClr val="2A1D00"/>
          </a:solidFill>
          <a:ln w="12700">
            <a:solidFill>
              <a:srgbClr val="2A1D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88036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288036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Draft Review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280160" y="3118104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confidence ≥ 0.65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364992"/>
            <a:ext cx="4114800" cy="438912"/>
          </a:xfrm>
          <a:prstGeom prst="rect">
            <a:avLst/>
          </a:prstGeom>
          <a:solidFill>
            <a:srgbClr val="2A0A0A"/>
          </a:solidFill>
          <a:ln w="12700">
            <a:solidFill>
              <a:srgbClr val="2A0A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38328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338328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Escalation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280160" y="3621024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critical / VIP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3913632"/>
            <a:ext cx="4389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4.2 hr → 11 min first-response time (↓96%)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206240"/>
            <a:ext cx="4389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Dual Qdrant RAG: KB + resolved tickets by category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498848"/>
            <a:ext cx="4389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Human-in-the-loop: 4,200 preference pairs in 90 days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791456"/>
            <a:ext cx="4389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Guardrails block pricing/legal claims from auto-sends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120640" y="1508760"/>
            <a:ext cx="192024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30368" y="1554480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230368" y="2011680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Autonomous resolution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132320" y="1508760"/>
            <a:ext cx="192024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242048" y="1554480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4.6★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242048" y="2011680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CSAT score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120640" y="2423160"/>
            <a:ext cx="192024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230368" y="2468880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11min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230368" y="2926080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First response time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132320" y="2423160"/>
            <a:ext cx="192024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242048" y="2468880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94.7%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7242048" y="2926080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Classification accuracy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120640" y="3401568"/>
            <a:ext cx="37947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Confidence routing — not category routing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120640" y="3739896"/>
            <a:ext cx="37947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Enterprise customer always Tier-3 regardless of confidence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120640" y="4078224"/>
            <a:ext cx="37947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Response guardrail: deterministic rule-based (&lt;1ms)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120640" y="4416552"/>
            <a:ext cx="37947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Embedding batching: up to 100 tickets per API call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" y="4407408"/>
            <a:ext cx="877824" cy="256032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434840"/>
            <a:ext cx="694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Qdrant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380744" y="4407408"/>
            <a:ext cx="877824" cy="256032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72184" y="4434840"/>
            <a:ext cx="694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GPT-4o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304288" y="4407408"/>
            <a:ext cx="877824" cy="256032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395728" y="4434840"/>
            <a:ext cx="694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BullMQ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27832" y="4407408"/>
            <a:ext cx="978408" cy="256032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19272" y="4434840"/>
            <a:ext cx="7955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251960" y="4407408"/>
            <a:ext cx="1179576" cy="256032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43400" y="4434840"/>
            <a:ext cx="9966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Slack API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477256" y="4407408"/>
            <a:ext cx="1280160" cy="256032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68696" y="4434840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13716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3657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06 · HEALTHCARE AI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5486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CliniqFlow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HIPAA-Compliant Clinical AI Data Pipeline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4206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Applies HIPAA Safe Harbour de-identification (18 identifier types via Presidio + HMAC-SHA256 + k-anonymity) to raw EHR data, transforms through a dbt mart layer, and generates GPT-4o daily clinical briefings via Airflow.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406908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377440"/>
            <a:ext cx="36576" cy="41148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40487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EHR Ingest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606040"/>
            <a:ext cx="2926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schema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871216"/>
            <a:ext cx="406908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871216"/>
            <a:ext cx="36576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89864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De-identify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3099816"/>
            <a:ext cx="2926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Presidio + HMAC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364992"/>
            <a:ext cx="406908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364992"/>
            <a:ext cx="36576" cy="41148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392424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dbt Transform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8" y="3593592"/>
            <a:ext cx="2926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staging→mart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858768"/>
            <a:ext cx="406908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858768"/>
            <a:ext cx="36576" cy="41148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88620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Briefing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4087368"/>
            <a:ext cx="2926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GPT-4o aggregates only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120640" y="1508760"/>
            <a:ext cx="192024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30368" y="1554480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230368" y="2011680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HIPAA identifiers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132320" y="1508760"/>
            <a:ext cx="192024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242048" y="1554480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k=5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242048" y="2011680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Anonymity threshold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120640" y="2423160"/>
            <a:ext cx="192024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230368" y="2468880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230368" y="2926080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PHI sent to LLM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132320" y="2423160"/>
            <a:ext cx="192024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242048" y="2468880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&lt;25m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7242048" y="2926080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 SLA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120640" y="3337560"/>
            <a:ext cx="3794760" cy="475488"/>
          </a:xfrm>
          <a:prstGeom prst="rect">
            <a:avLst/>
          </a:prstGeom>
          <a:solidFill>
            <a:srgbClr val="0A2518"/>
          </a:solidFill>
          <a:ln w="12700">
            <a:solidFill>
              <a:srgbClr val="0A251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30368" y="3419856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41071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77840" y="340156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Passed independent HIPAA compliance audit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20640" y="3913632"/>
            <a:ext cx="37947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00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HMAC-SHA256 pseudonymisation: same patient → same ID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20640" y="4187952"/>
            <a:ext cx="37947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00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k-anonymity: suppress groups with &lt;5 quasi-identifier matches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20640" y="4462272"/>
            <a:ext cx="37947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00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Schema separation: GRANT-level isolation (not app-layer trust)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20640" y="4736592"/>
            <a:ext cx="37947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00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dbt schema tests: 100% pass rate gates every mart refresh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4407408"/>
            <a:ext cx="1078992" cy="256032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4434840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Presidio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581912" y="4407408"/>
            <a:ext cx="576072" cy="256032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73352" y="4434840"/>
            <a:ext cx="393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dbt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203704" y="4407408"/>
            <a:ext cx="978408" cy="256032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95144" y="4434840"/>
            <a:ext cx="7955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Airflow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27832" y="4407408"/>
            <a:ext cx="1280160" cy="256032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19272" y="4434840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53712" y="4407408"/>
            <a:ext cx="877824" cy="256032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45152" y="4434840"/>
            <a:ext cx="694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GPT-4o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477256" y="4407408"/>
            <a:ext cx="877824" cy="256032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68696" y="4434840"/>
            <a:ext cx="694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STUDY · NEXUSFLOW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3152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a spinner to a reasoning system.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5029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Problem: Enterprise research teams spent 3–5 hours per report. Single GPT-4o calls produced shallow, uncited output with no quality signal. The challenge was making the system self-correct before the user saw the result.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50292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9456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Quality Gate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Critic scores 4 dimensions. Score &lt; 0.72 → reroute to Researcher with gap-filling instructions. Max 3 iterations prevents infinite loops.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081528"/>
            <a:ext cx="50292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12724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 Cost Control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01568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Qdrant KB answers ~40% of sub-queries. Saved $0.07/report average. RAG hit rate tracked as a production metric.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4014216"/>
            <a:ext cx="50292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4059936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SSE Trust Signal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334256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Per-agent thought events stream live to browser. Users see the system reason — not a blank spinner. Builds trust in the output.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60720" y="1828800"/>
            <a:ext cx="306324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0" y="196596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0" y="237744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49440" y="2441448"/>
            <a:ext cx="1737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quality improvement vs single-pass generation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0" y="288036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49440" y="2944368"/>
            <a:ext cx="1737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reduction in LLM cost per report via RAG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43600" y="338328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49440" y="3447288"/>
            <a:ext cx="1737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average report generation time end-to-end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43600" y="388620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94%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949440" y="3950208"/>
            <a:ext cx="1737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reports approved on first or second Critic pass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0" y="438912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$0.11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49440" y="4453128"/>
            <a:ext cx="1737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average cost per report (hard stop at $0.50)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STUDY · CLINIQFLOW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HIPAA compliance as an engineering problem.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5029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Problem: A healthcare network wanted to use EHR data for AI. Legal blocked it: patient data reaching LLM APIs required a BAA the vendor wouldn't sign. The engineering challenge was making data legally unidentifiable before it left the perimeter.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50292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9456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Safe Harbour De-ID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18 HIPAA identifier types: Presidio NLP detection, HMAC-SHA256 patient pseudonymisation, geographic generalisation, date shifting.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081528"/>
            <a:ext cx="50292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12724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k-Anonymity Guard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01568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Quasi-identifier groups {age_band, sex, dept, month} verified ≥ k=5. Violating groups suppressed before mart materialisation.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4014216"/>
            <a:ext cx="50292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4059936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Schema Isolation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334256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/ deidentified / staging / mart separation enforced via PostgreSQL GRANT — auditable, not application-layer trust.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60720" y="1828800"/>
            <a:ext cx="306324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0" y="196596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Outcome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0" y="237744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49440" y="2441448"/>
            <a:ext cx="1737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HIPAA identifier types fully addressed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0" y="288036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k=5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49440" y="2944368"/>
            <a:ext cx="1737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anonymity threshold — zero re-id risk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43600" y="338328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49440" y="3447288"/>
            <a:ext cx="1737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BAAs required with LLM vendor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43600" y="388620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949440" y="3950208"/>
            <a:ext cx="1737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dbt schema test pass rate in production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0" y="438912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&lt;25m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49440" y="4453128"/>
            <a:ext cx="1737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pipeline SLA for 50,000 encounters/day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5486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WORK — NDA PROTECTED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Selected enterprise work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 NDA.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case studies, architecture docs, and code excerpts available under NDA for serious employer conversations.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402336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74520"/>
            <a:ext cx="45720" cy="13258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965960"/>
            <a:ext cx="37490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Healthcare · Bioinformatics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21792" y="2185416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Clinical NLP Document Intelligence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2468880"/>
            <a:ext cx="3749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NLP pipeline processing clinical notes at scale. Structured extraction from unstructured EHR text. Integrated into a vendor analytics product. Full de-identification + audit trail.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00600" y="1874520"/>
            <a:ext cx="402336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874520"/>
            <a:ext cx="45720" cy="13258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5192" y="1965960"/>
            <a:ext cx="37490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Telecom · Operations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965192" y="2185416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Anomaly Detection &amp; Auto-Remediation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5192" y="2468880"/>
            <a:ext cx="3749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Operations intelligence for a tier-1 carrier. 40+ metric streams, ML anomaly detection, LLM-orchestrated first-line remediation runbooks. MTTR reduced 67%.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402336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337560"/>
            <a:ext cx="45720" cy="13258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429000"/>
            <a:ext cx="37490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Enterprise · Analytics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21792" y="3648456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Executive Intelligence Briefing System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" y="3931920"/>
            <a:ext cx="3749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executive reporting aggregating KPIs from 12 internal sources. AI-generated narrative briefings with anomaly callouts. Replaced a 3-person manual reporting team.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0600" y="3337560"/>
            <a:ext cx="402336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3337560"/>
            <a:ext cx="45720" cy="13258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5192" y="3429000"/>
            <a:ext cx="37490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Enterprise · AI Safety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965192" y="3648456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Evaluation &amp; Hallucination Testing Framework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65192" y="3931920"/>
            <a:ext cx="3749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 framework for a Fortune 500 deploying GPT-4o in a regulated environment. Factual consistency, citation verification, adversarial testing, confidence calibration. Gated production deployments.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743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TECHNICAL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Tools I reach for first.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01168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325880"/>
            <a:ext cx="1792224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Framework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66928" y="1527048"/>
            <a:ext cx="17922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LangGraph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1801368"/>
            <a:ext cx="179222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Multi-agent state machines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2130552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2130552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2130552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5568" y="2130552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98448" y="2130552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1234440"/>
            <a:ext cx="201168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15768" y="1325880"/>
            <a:ext cx="1792224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API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715768" y="1527048"/>
            <a:ext cx="17922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OpenAI GPT-4o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715768" y="1801368"/>
            <a:ext cx="179222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Reasoning, extraction, generation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15768" y="2130552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98648" y="2130552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81528" y="2130552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64408" y="2130552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47288" y="2130552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234440"/>
            <a:ext cx="201168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64608" y="1325880"/>
            <a:ext cx="1792224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Vector DB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64608" y="1527048"/>
            <a:ext cx="17922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Qdrant / pgvector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64608" y="1801368"/>
            <a:ext cx="179222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RAG, semantic search, dedup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64608" y="2130552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47488" y="2130552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30368" y="2130552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13248" y="2130552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96128" y="2130552"/>
            <a:ext cx="146304" cy="3657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03720" y="1234440"/>
            <a:ext cx="201168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013448" y="1325880"/>
            <a:ext cx="1792224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013448" y="1527048"/>
            <a:ext cx="17922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/ Node.js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013448" y="1801368"/>
            <a:ext cx="179222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Async API layer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013448" y="2130552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96328" y="2130552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79208" y="2130552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62088" y="2130552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44968" y="2130552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2441448"/>
            <a:ext cx="201168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66928" y="2532888"/>
            <a:ext cx="1792224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66928" y="2734056"/>
            <a:ext cx="17922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+ TypeScript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66928" y="3008376"/>
            <a:ext cx="179222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Dashboards, workflow builders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66928" y="3337560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9808" y="3337560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32688" y="3337560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15568" y="3337560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298448" y="3337560"/>
            <a:ext cx="146304" cy="3657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606040" y="2441448"/>
            <a:ext cx="201168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2715768" y="2532888"/>
            <a:ext cx="1792224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715768" y="2734056"/>
            <a:ext cx="17922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 16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2715768" y="3008376"/>
            <a:ext cx="179222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 store for all projects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715768" y="3337560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898648" y="3337560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081528" y="3337560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264408" y="3337560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447288" y="3337560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54880" y="2441448"/>
            <a:ext cx="201168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4864608" y="2532888"/>
            <a:ext cx="1792224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Time-Series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864608" y="2734056"/>
            <a:ext cx="17922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TimescaleDB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4864608" y="3008376"/>
            <a:ext cx="179222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Hypertables, cont. aggregates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864608" y="3337560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047488" y="3337560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230368" y="3337560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413248" y="3337560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596128" y="3337560"/>
            <a:ext cx="146304" cy="3657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903720" y="2441448"/>
            <a:ext cx="201168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7013448" y="2532888"/>
            <a:ext cx="1792224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Queue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7013448" y="2734056"/>
            <a:ext cx="17922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BullMQ / Redis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7013448" y="3008376"/>
            <a:ext cx="179222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Jobs, Pub/Sub, caching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013448" y="3337560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196328" y="3337560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79208" y="3337560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562088" y="3337560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744968" y="3337560"/>
            <a:ext cx="146304" cy="3657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57200" y="3648456"/>
            <a:ext cx="201168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566928" y="3739896"/>
            <a:ext cx="1792224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Transform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566928" y="3941064"/>
            <a:ext cx="17922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dbt</a:t>
            </a:r>
            <a:endParaRPr lang="en-US" sz="1150" dirty="0"/>
          </a:p>
        </p:txBody>
      </p:sp>
      <p:sp>
        <p:nvSpPr>
          <p:cNvPr id="80" name="Text 78"/>
          <p:cNvSpPr/>
          <p:nvPr/>
        </p:nvSpPr>
        <p:spPr>
          <a:xfrm>
            <a:off x="566928" y="4215384"/>
            <a:ext cx="179222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Staging → mart with tests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566928" y="4544568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49808" y="4544568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32688" y="4544568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115568" y="4544568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298448" y="4544568"/>
            <a:ext cx="146304" cy="3657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606040" y="3648456"/>
            <a:ext cx="201168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7" name="Text 85"/>
          <p:cNvSpPr/>
          <p:nvPr/>
        </p:nvSpPr>
        <p:spPr>
          <a:xfrm>
            <a:off x="2715768" y="3739896"/>
            <a:ext cx="1792224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Orchestration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2715768" y="3941064"/>
            <a:ext cx="17922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 Airflow</a:t>
            </a:r>
            <a:endParaRPr lang="en-US" sz="1150" dirty="0"/>
          </a:p>
        </p:txBody>
      </p:sp>
      <p:sp>
        <p:nvSpPr>
          <p:cNvPr id="89" name="Text 87"/>
          <p:cNvSpPr/>
          <p:nvPr/>
        </p:nvSpPr>
        <p:spPr>
          <a:xfrm>
            <a:off x="2715768" y="4215384"/>
            <a:ext cx="179222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Scheduled data pipelines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2715768" y="4544568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898648" y="4544568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081528" y="4544568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264408" y="4544568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447288" y="4544568"/>
            <a:ext cx="146304" cy="3657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754880" y="3648456"/>
            <a:ext cx="201168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6" name="Text 94"/>
          <p:cNvSpPr/>
          <p:nvPr/>
        </p:nvSpPr>
        <p:spPr>
          <a:xfrm>
            <a:off x="4864608" y="3739896"/>
            <a:ext cx="1792224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Monitoring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4864608" y="3941064"/>
            <a:ext cx="17922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Prometheus + Grafana</a:t>
            </a:r>
            <a:endParaRPr lang="en-US" sz="1150" dirty="0"/>
          </a:p>
        </p:txBody>
      </p:sp>
      <p:sp>
        <p:nvSpPr>
          <p:cNvPr id="98" name="Text 96"/>
          <p:cNvSpPr/>
          <p:nvPr/>
        </p:nvSpPr>
        <p:spPr>
          <a:xfrm>
            <a:off x="4864608" y="4215384"/>
            <a:ext cx="179222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Metrics, dashboards, alerting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864608" y="4544568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047488" y="4544568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230368" y="4544568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413248" y="4544568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596128" y="4544568"/>
            <a:ext cx="146304" cy="3657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903720" y="3648456"/>
            <a:ext cx="201168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5" name="Text 103"/>
          <p:cNvSpPr/>
          <p:nvPr/>
        </p:nvSpPr>
        <p:spPr>
          <a:xfrm>
            <a:off x="7013448" y="3739896"/>
            <a:ext cx="1792224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CI/CD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7013448" y="3941064"/>
            <a:ext cx="17922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Actions</a:t>
            </a:r>
            <a:endParaRPr lang="en-US" sz="1150" dirty="0"/>
          </a:p>
        </p:txBody>
      </p:sp>
      <p:sp>
        <p:nvSpPr>
          <p:cNvPr id="107" name="Text 105"/>
          <p:cNvSpPr/>
          <p:nvPr/>
        </p:nvSpPr>
        <p:spPr>
          <a:xfrm>
            <a:off x="7013448" y="4215384"/>
            <a:ext cx="179222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Lint → test → build → deploy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7013448" y="4544568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196328" y="4544568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379208" y="4544568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562088" y="4544568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744968" y="4544568"/>
            <a:ext cx="146304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743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&amp; IMPACT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73152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Six systems. Measurable outcomes.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417320"/>
            <a:ext cx="155448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417320"/>
            <a:ext cx="155448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527048"/>
            <a:ext cx="1408176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36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+23%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20624" y="2039112"/>
            <a:ext cx="140817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 quality vs single-pass generation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0624" y="2587752"/>
            <a:ext cx="1408176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NexusFlow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39112" y="1417320"/>
            <a:ext cx="155448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39112" y="1417320"/>
            <a:ext cx="155448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12264" y="1527048"/>
            <a:ext cx="1408176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36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↓40%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112264" y="2039112"/>
            <a:ext cx="140817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cost per report via RAG layer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12264" y="2587752"/>
            <a:ext cx="1408176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NexusFlow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730752" y="1417320"/>
            <a:ext cx="155448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30752" y="1417320"/>
            <a:ext cx="15544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03904" y="1527048"/>
            <a:ext cx="1408176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↓60%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803904" y="2039112"/>
            <a:ext cx="140817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Workflow execution latency via parallel DAG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03904" y="2587752"/>
            <a:ext cx="1408176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WorkflowOS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22392" y="1417320"/>
            <a:ext cx="155448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22392" y="1417320"/>
            <a:ext cx="15544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95544" y="1527048"/>
            <a:ext cx="1408176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↓73%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495544" y="2039112"/>
            <a:ext cx="140817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False positive rate vs threshold alerting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95544" y="2587752"/>
            <a:ext cx="1408176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PulseDash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114032" y="1417320"/>
            <a:ext cx="155448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14032" y="1417320"/>
            <a:ext cx="15544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87184" y="1527048"/>
            <a:ext cx="1408176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↓98%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187184" y="2039112"/>
            <a:ext cx="140817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query latency (2,400ms → 38ms)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187184" y="2587752"/>
            <a:ext cx="1408176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PulseDash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47472" y="2971800"/>
            <a:ext cx="155448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7472" y="2971800"/>
            <a:ext cx="155448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081528"/>
            <a:ext cx="1408176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96.3%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420624" y="3593592"/>
            <a:ext cx="140817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Extraction accuracy vs 71% with regex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20624" y="4142232"/>
            <a:ext cx="1408176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ScraperMatrix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039112" y="2971800"/>
            <a:ext cx="155448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039112" y="2971800"/>
            <a:ext cx="155448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12264" y="3081528"/>
            <a:ext cx="1408176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↓96%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2112264" y="3593592"/>
            <a:ext cx="140817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First-response time (4.2hr → 11min)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112264" y="4142232"/>
            <a:ext cx="1408176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SupportNinja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730752" y="2971800"/>
            <a:ext cx="155448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730752" y="2971800"/>
            <a:ext cx="155448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03904" y="3081528"/>
            <a:ext cx="1408176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4.6★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3803904" y="3593592"/>
            <a:ext cx="140817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CSAT rating after AI implementation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803904" y="4142232"/>
            <a:ext cx="1408176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SupportNinja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422392" y="2971800"/>
            <a:ext cx="155448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422392" y="2971800"/>
            <a:ext cx="15544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95544" y="3081528"/>
            <a:ext cx="1408176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5495544" y="3593592"/>
            <a:ext cx="140817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PHI ever sent to an LLM API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495544" y="4142232"/>
            <a:ext cx="1408176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CliniqFlow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114032" y="2971800"/>
            <a:ext cx="155448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114032" y="2971800"/>
            <a:ext cx="15544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87184" y="3081528"/>
            <a:ext cx="1408176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7187184" y="3593592"/>
            <a:ext cx="140817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dbt schema test pass rate in production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187184" y="4142232"/>
            <a:ext cx="1408176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CliniqFlow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0" y="731520"/>
            <a:ext cx="5852160" cy="3749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383280" y="658368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804672"/>
            <a:ext cx="4572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Available for Senior / Principal Roles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0" y="1234440"/>
            <a:ext cx="5852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Let's work together.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965960" y="2011680"/>
            <a:ext cx="5212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9AA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I'm open to senior and principal engineering roles where the AI challenge is real. Particularly interested in teams building agentic systems, workflow automation platforms, or enterprise AI infrastructure.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2926080"/>
            <a:ext cx="3657600" cy="5486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2926080"/>
            <a:ext cx="3657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✉  dr.ahmedhani197@gmail.com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645920" y="3657600"/>
            <a:ext cx="5852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https://WWW.linkedin.com/in/ahmed-hani1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0" y="4069080"/>
            <a:ext cx="5852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11312</Words>
  <Application>WPS Presentation</Application>
  <PresentationFormat>On-screen Show (16:9)</PresentationFormat>
  <Paragraphs>802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Workflow &amp; Vibe Coding Engineer — Portfolio</dc:title>
  <dc:creator>Dr Ahmed</dc:creator>
  <dc:subject>PptxGenJS Presentation</dc:subject>
  <cp:lastModifiedBy>HP ZBOOK G3</cp:lastModifiedBy>
  <cp:revision>3</cp:revision>
  <dcterms:created xsi:type="dcterms:W3CDTF">2026-05-23T08:55:00Z</dcterms:created>
  <dcterms:modified xsi:type="dcterms:W3CDTF">2026-05-23T09:12:09Z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164B0FABD531484FAA9A11FEFD805FD9_12</vt:lpwstr>
  </property>
</Properties>
</file>